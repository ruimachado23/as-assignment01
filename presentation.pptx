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PT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PT" sz="2000" spc="-1" strike="noStrike">
                <a:latin typeface="Arial"/>
              </a:rPr>
              <a:t>Click to edit the notes format</a:t>
            </a:r>
            <a:endParaRPr b="0" lang="pt-PT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PT" sz="1400" spc="-1" strike="noStrike">
                <a:latin typeface="Times New Roman"/>
              </a:rPr>
              <a:t>&lt;header&gt;</a:t>
            </a:r>
            <a:endParaRPr b="0" lang="pt-PT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PT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PT" sz="1400" spc="-1" strike="noStrike">
                <a:latin typeface="Times New Roman"/>
              </a:rPr>
              <a:t>&lt;date/time&gt;</a:t>
            </a:r>
            <a:endParaRPr b="0" lang="pt-PT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PT" sz="1400" spc="-1" strike="noStrike">
                <a:latin typeface="Times New Roman"/>
              </a:defRPr>
            </a:lvl1pPr>
          </a:lstStyle>
          <a:p>
            <a:r>
              <a:rPr b="0" lang="pt-PT" sz="1400" spc="-1" strike="noStrike">
                <a:latin typeface="Times New Roman"/>
              </a:rPr>
              <a:t>&lt;footer&gt;</a:t>
            </a:r>
            <a:endParaRPr b="0" lang="pt-PT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PT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FCCE9A7-755A-4C39-856F-5A8DF3EF84E1}" type="slidenum">
              <a:rPr b="0" lang="pt-PT" sz="1400" spc="-1" strike="noStrike">
                <a:latin typeface="Times New Roman"/>
              </a:rPr>
              <a:t>&lt;number&gt;</a:t>
            </a:fld>
            <a:endParaRPr b="0" lang="pt-PT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t-PT" sz="20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18380D-1807-41E3-BEA3-AF7D74BFF9C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t-PT" sz="20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D6D076-D2EC-49C5-AA76-9B6DA0368DA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PT" sz="1800" spc="-1" strike="noStrike">
                <a:latin typeface="Arial"/>
              </a:rPr>
              <a:t>- Workflow: A customer places an order</a:t>
            </a:r>
            <a:endParaRPr b="0" lang="pt-PT" sz="1800" spc="-1" strike="noStrike"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928BCB-101F-40AD-BCE4-88FACFDFC9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t-PT" sz="2000" spc="-1" strike="noStrike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596BDB-5650-48C2-A461-D817DED1B38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t-PT" sz="20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972BFB-052C-44D2-A660-C9A19670AD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t-PT" sz="20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321C50-53FB-423D-AC77-4AFB5DD036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PT" sz="1800" spc="-1" strike="noStrike">
                <a:latin typeface="Arial"/>
              </a:rPr>
              <a:t>RED methodology</a:t>
            </a:r>
            <a:endParaRPr b="0" lang="pt-P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PT" sz="1800" spc="-1" strike="noStrike">
                <a:latin typeface="Arial"/>
              </a:rPr>
              <a:t>	</a:t>
            </a:r>
            <a:r>
              <a:rPr b="0" lang="pt-PT" sz="1800" spc="-1" strike="noStrike">
                <a:latin typeface="Arial"/>
              </a:rPr>
              <a:t>- Rate: how many orders per minute</a:t>
            </a:r>
            <a:endParaRPr b="0" lang="pt-P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PT" sz="1800" spc="-1" strike="noStrike">
                <a:latin typeface="Arial"/>
              </a:rPr>
              <a:t>	</a:t>
            </a:r>
            <a:r>
              <a:rPr b="0" lang="pt-PT" sz="1800" spc="-1" strike="noStrike">
                <a:latin typeface="Arial"/>
              </a:rPr>
              <a:t>- Errors: how many orders per minute</a:t>
            </a:r>
            <a:endParaRPr b="0" lang="pt-P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PT" sz="1800" spc="-1" strike="noStrike">
                <a:latin typeface="Arial"/>
              </a:rPr>
              <a:t>	</a:t>
            </a:r>
            <a:r>
              <a:rPr b="0" lang="pt-PT" sz="1800" spc="-1" strike="noStrike">
                <a:latin typeface="Arial"/>
              </a:rPr>
              <a:t>- Duration: how long orders take to process </a:t>
            </a:r>
            <a:endParaRPr b="0" lang="pt-PT" sz="18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2FC350-807C-4618-B5D1-A0691E857AA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t-PT" sz="20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4E8492-A283-42D9-A398-4F58F13069B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pt-PT" sz="20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B19173-3ECE-4676-BF74-B8BBB1640D2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P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P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PT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pt-P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pt-PT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pt-PT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pt-PT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pt-PT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pt-PT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pt-PT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pt-PT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731520" y="128016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f172a"/>
                </a:solidFill>
                <a:latin typeface="Georgia"/>
                <a:ea typeface="Georgia"/>
              </a:rPr>
              <a:t>nopCommerce</a:t>
            </a:r>
            <a:endParaRPr b="0" lang="pt-PT" sz="4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731520" y="201168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891b2"/>
                </a:solidFill>
                <a:latin typeface="Calibri"/>
                <a:ea typeface="Calibri"/>
              </a:rPr>
              <a:t>Assignment 01: Observability in the Wild</a:t>
            </a:r>
            <a:endParaRPr b="0" lang="pt-PT" sz="24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31520" y="292608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AS, 2025/2026</a:t>
            </a:r>
            <a:endParaRPr b="0" lang="pt-PT" sz="1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31520" y="43891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Rui Machado - 113765</a:t>
            </a:r>
            <a:endParaRPr b="0" lang="pt-PT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731520" y="36576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f172a"/>
                </a:solidFill>
                <a:latin typeface="Georgia"/>
                <a:ea typeface="Georgia"/>
              </a:rPr>
              <a:t>The Goal</a:t>
            </a:r>
            <a:endParaRPr b="0" lang="pt-PT" sz="3600" spc="-1" strike="noStrike"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731520" y="1005840"/>
            <a:ext cx="1096920" cy="36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2"/>
          <p:cNvSpPr/>
          <p:nvPr/>
        </p:nvSpPr>
        <p:spPr>
          <a:xfrm>
            <a:off x="731520" y="1371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  <a:ea typeface="Calibri"/>
              </a:rPr>
              <a:t>Add observability to nopCommerce's order flow with zero changes to method signatures or existing behaviour.</a:t>
            </a:r>
            <a:endParaRPr b="0" lang="pt-PT" sz="1600" spc="-1" strike="noStrike"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731520" y="2286000"/>
            <a:ext cx="18284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Shape 4"/>
          <p:cNvSpPr/>
          <p:nvPr/>
        </p:nvSpPr>
        <p:spPr>
          <a:xfrm>
            <a:off x="731520" y="2286000"/>
            <a:ext cx="1828440" cy="45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5"/>
          <p:cNvSpPr/>
          <p:nvPr/>
        </p:nvSpPr>
        <p:spPr>
          <a:xfrm>
            <a:off x="73152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Distributed Tracing</a:t>
            </a:r>
            <a:endParaRPr b="0" lang="pt-PT" sz="1400" spc="-1" strike="noStrike"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731520" y="30175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Jaeger via OTLP</a:t>
            </a:r>
            <a:endParaRPr b="0" lang="pt-PT" sz="1200" spc="-1" strike="noStrike"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2743200" y="2286000"/>
            <a:ext cx="18284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8"/>
          <p:cNvSpPr/>
          <p:nvPr/>
        </p:nvSpPr>
        <p:spPr>
          <a:xfrm>
            <a:off x="2743200" y="2286000"/>
            <a:ext cx="1828440" cy="45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9"/>
          <p:cNvSpPr/>
          <p:nvPr/>
        </p:nvSpPr>
        <p:spPr>
          <a:xfrm>
            <a:off x="274320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Metrics</a:t>
            </a:r>
            <a:endParaRPr b="0" lang="pt-PT" sz="1400" spc="-1" strike="noStrike"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2743200" y="30175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Prometheus histograms &amp; counters</a:t>
            </a:r>
            <a:endParaRPr b="0" lang="pt-PT" sz="1200" spc="-1" strike="noStrike"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4754880" y="2286000"/>
            <a:ext cx="18284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12"/>
          <p:cNvSpPr/>
          <p:nvPr/>
        </p:nvSpPr>
        <p:spPr>
          <a:xfrm>
            <a:off x="4754880" y="2286000"/>
            <a:ext cx="1828440" cy="45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3"/>
          <p:cNvSpPr/>
          <p:nvPr/>
        </p:nvSpPr>
        <p:spPr>
          <a:xfrm>
            <a:off x="475488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Dashboards</a:t>
            </a:r>
            <a:endParaRPr b="0" lang="pt-PT" sz="1400" spc="-1" strike="noStrike"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4754880" y="30175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Grafana (auto-provisioned)</a:t>
            </a:r>
            <a:endParaRPr b="0" lang="pt-PT" sz="1200" spc="-1" strike="noStrike"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6766560" y="2286000"/>
            <a:ext cx="18284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Shape 16"/>
          <p:cNvSpPr/>
          <p:nvPr/>
        </p:nvSpPr>
        <p:spPr>
          <a:xfrm>
            <a:off x="6766560" y="2286000"/>
            <a:ext cx="1828440" cy="45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7"/>
          <p:cNvSpPr/>
          <p:nvPr/>
        </p:nvSpPr>
        <p:spPr>
          <a:xfrm>
            <a:off x="676656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PII Protection</a:t>
            </a:r>
            <a:endParaRPr b="0" lang="pt-PT" sz="1400" spc="-1" strike="noStrike"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6766560" y="30175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Redaction before export</a:t>
            </a:r>
            <a:endParaRPr b="0" lang="pt-P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731520" y="36576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f172a"/>
                </a:solidFill>
                <a:latin typeface="Georgia"/>
                <a:ea typeface="Georgia"/>
              </a:rPr>
              <a:t>Architecture</a:t>
            </a:r>
            <a:endParaRPr b="0" lang="pt-PT" sz="3600" spc="-1" strike="noStrike"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731520" y="1005840"/>
            <a:ext cx="1096920" cy="36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Image 0" descr="/home/rmachado/uni/as/nopCommerce/docs/architecture.png"/>
          <p:cNvPicPr/>
          <p:nvPr/>
        </p:nvPicPr>
        <p:blipFill>
          <a:blip r:embed="rId1"/>
          <a:stretch/>
        </p:blipFill>
        <p:spPr>
          <a:xfrm>
            <a:off x="457200" y="1280160"/>
            <a:ext cx="8229240" cy="347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731520" y="36576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f172a"/>
                </a:solidFill>
                <a:latin typeface="Georgia"/>
                <a:ea typeface="Georgia"/>
              </a:rPr>
              <a:t>Instrumentation Decisions</a:t>
            </a:r>
            <a:endParaRPr b="0" lang="pt-PT" sz="3600" spc="-1" strike="noStrike"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731520" y="1005840"/>
            <a:ext cx="1096920" cy="36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"/>
          <p:cNvSpPr/>
          <p:nvPr/>
        </p:nvSpPr>
        <p:spPr>
          <a:xfrm>
            <a:off x="731520" y="1371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891b2"/>
                </a:solidFill>
                <a:latin typeface="Calibri"/>
                <a:ea typeface="Calibri"/>
              </a:rPr>
              <a:t>Spans</a:t>
            </a:r>
            <a:endParaRPr b="0" lang="pt-PT" sz="1800" spc="-1" strike="noStrike"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731520" y="1828800"/>
            <a:ext cx="38401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PlaceOrderAsync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Root span for the full order flow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PreparePlaceOrderDetailsAsync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Validation &amp; data gathering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ProcessPaymentAsync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Payment gateway call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SaveOrderDetailsAsync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Database persistence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MoveCartItemsToOrderItemsAsync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Cart-to-order conversion</a:t>
            </a:r>
            <a:endParaRPr b="0" lang="pt-PT" sz="1300" spc="-1" strike="noStrike"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4846320" y="1371600"/>
            <a:ext cx="360" cy="320040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5"/>
          <p:cNvSpPr/>
          <p:nvPr/>
        </p:nvSpPr>
        <p:spPr>
          <a:xfrm>
            <a:off x="5120640" y="1371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891b2"/>
                </a:solidFill>
                <a:latin typeface="Calibri"/>
                <a:ea typeface="Calibri"/>
              </a:rPr>
              <a:t>Metrics</a:t>
            </a:r>
            <a:endParaRPr b="0" lang="pt-PT" sz="1800" spc="-1" strike="noStrike"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5120640" y="1828800"/>
            <a:ext cx="347436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onsolas"/>
                <a:ea typeface="Consolas"/>
              </a:rPr>
              <a:t>order.processing_duration</a:t>
            </a:r>
            <a:endParaRPr b="0" lang="pt-PT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Histogram: end-to-end order time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onsolas"/>
                <a:ea typeface="Consolas"/>
              </a:rPr>
              <a:t>payment.gateway_duration</a:t>
            </a:r>
            <a:endParaRPr b="0" lang="pt-PT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Histogram: payment latency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onsolas"/>
                <a:ea typeface="Consolas"/>
              </a:rPr>
              <a:t>inventory.adjustment_failures</a:t>
            </a:r>
            <a:endParaRPr b="0" lang="pt-PT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Counter: stock adjustment errors</a:t>
            </a:r>
            <a:endParaRPr b="0" lang="pt-PT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731520" y="36576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f172a"/>
                </a:solidFill>
                <a:latin typeface="Georgia"/>
                <a:ea typeface="Georgia"/>
              </a:rPr>
              <a:t>Surgical Approach</a:t>
            </a:r>
            <a:endParaRPr b="0" lang="pt-PT" sz="3600" spc="-1" strike="noStrike"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731520" y="1005840"/>
            <a:ext cx="1096920" cy="36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"/>
          <p:cNvSpPr/>
          <p:nvPr/>
        </p:nvSpPr>
        <p:spPr>
          <a:xfrm>
            <a:off x="731520" y="1417320"/>
            <a:ext cx="228240" cy="2282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3"/>
          <p:cNvSpPr/>
          <p:nvPr/>
        </p:nvSpPr>
        <p:spPr>
          <a:xfrm>
            <a:off x="731520" y="141732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pt-PT" sz="1100" spc="-1" strike="noStrike"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1143000" y="137160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Zero signature changes</a:t>
            </a:r>
            <a:endParaRPr b="0" lang="pt-PT" sz="1500" spc="-1" strike="noStrike"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731520" y="1920240"/>
            <a:ext cx="228240" cy="2282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6"/>
          <p:cNvSpPr/>
          <p:nvPr/>
        </p:nvSpPr>
        <p:spPr>
          <a:xfrm>
            <a:off x="731520" y="192024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pt-PT" sz="1100" spc="-1" strike="noStrike"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1143000" y="187452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Single shared definitions file</a:t>
            </a:r>
            <a:endParaRPr b="0" lang="pt-PT" sz="1500" spc="-1" strike="noStrike"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1143000" y="214884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All spans and metrics are defined in a single file, keeping instrumentation centralised instead of scattered across services</a:t>
            </a:r>
            <a:endParaRPr b="0" lang="pt-PT" sz="1100" spc="-1" strike="noStrike">
              <a:latin typeface="Arial"/>
            </a:endParaRPr>
          </a:p>
        </p:txBody>
      </p:sp>
      <p:sp>
        <p:nvSpPr>
          <p:cNvPr id="87" name="Shape 9"/>
          <p:cNvSpPr/>
          <p:nvPr/>
        </p:nvSpPr>
        <p:spPr>
          <a:xfrm>
            <a:off x="731520" y="2834640"/>
            <a:ext cx="228240" cy="2282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10"/>
          <p:cNvSpPr/>
          <p:nvPr/>
        </p:nvSpPr>
        <p:spPr>
          <a:xfrm>
            <a:off x="731520" y="283464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pt-PT" sz="1100" spc="-1" strike="noStrike"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1143000" y="278892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INopStartup integration</a:t>
            </a:r>
            <a:endParaRPr b="0" lang="pt-PT" sz="1500" spc="-1" strike="noStrike"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1143000" y="306324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OpenTelemetry is registered through nopCommerce's own startup interface at Order = -1, loading before all other services without touching existing startup code</a:t>
            </a:r>
            <a:endParaRPr b="0" lang="pt-PT" sz="1100" spc="-1" strike="noStrike"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731520" y="3749040"/>
            <a:ext cx="228240" cy="2282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4"/>
          <p:cNvSpPr/>
          <p:nvPr/>
        </p:nvSpPr>
        <p:spPr>
          <a:xfrm>
            <a:off x="731520" y="374904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pt-PT" sz="1100" spc="-1" strike="noStrike"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1143000" y="370332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SDK-layer PII protection</a:t>
            </a:r>
            <a:endParaRPr b="0" lang="pt-PT" sz="1500" spc="-1" strike="noStrike"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1143000" y="397764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PiiSanitisationProcessor intercepts every span before export and redacts sensitive tags, so no per-service sanitisation logic is needed</a:t>
            </a:r>
            <a:endParaRPr b="0" lang="pt-PT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731520" y="36576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f172a"/>
                </a:solidFill>
                <a:latin typeface="Georgia"/>
                <a:ea typeface="Georgia"/>
              </a:rPr>
              <a:t>PII Protection</a:t>
            </a:r>
            <a:endParaRPr b="0" lang="pt-PT" sz="3600" spc="-1" strike="noStrike"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731520" y="1005840"/>
            <a:ext cx="1096920" cy="36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2"/>
          <p:cNvSpPr/>
          <p:nvPr/>
        </p:nvSpPr>
        <p:spPr>
          <a:xfrm>
            <a:off x="731520" y="128016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Single enforcement point: PiiSanitisationProcessor</a:t>
            </a:r>
            <a:endParaRPr b="0" lang="pt-PT" sz="1500" spc="-1" strike="noStrike"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731520" y="1920240"/>
            <a:ext cx="7680600" cy="2559960"/>
          </a:xfrm>
          <a:prstGeom prst="rect">
            <a:avLst/>
          </a:prstGeom>
          <a:solidFill>
            <a:srgbClr val="f8fafc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Text 4"/>
          <p:cNvSpPr/>
          <p:nvPr/>
        </p:nvSpPr>
        <p:spPr>
          <a:xfrm>
            <a:off x="1005840" y="2103120"/>
            <a:ext cx="7131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891b2"/>
                </a:solidFill>
                <a:latin typeface="Calibri"/>
                <a:ea typeface="Calibri"/>
              </a:rPr>
              <a:t>How it works</a:t>
            </a:r>
            <a:endParaRPr b="0" lang="pt-PT" sz="1500" spc="-1" strike="noStrike"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1005840" y="2560320"/>
            <a:ext cx="7131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Extends </a:t>
            </a:r>
            <a:r>
              <a:rPr b="0" lang="en-US" sz="1200" spc="-1" strike="noStrike">
                <a:solidFill>
                  <a:srgbClr val="334155"/>
                </a:solidFill>
                <a:latin typeface="Consolas"/>
                <a:ea typeface="Consolas"/>
              </a:rPr>
              <a:t>BaseProcessor&lt;Activity&gt;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, runs on every span before export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Scans all tag keys against a pattern list (email, name, phone, card, address, ...)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Matching tags are replaced with </a:t>
            </a:r>
            <a:r>
              <a:rPr b="1" lang="en-US" sz="1200" spc="-1" strike="noStrike">
                <a:solidFill>
                  <a:srgbClr val="334155"/>
                </a:solidFill>
                <a:latin typeface="Consolas"/>
                <a:ea typeface="Consolas"/>
              </a:rPr>
              <a:t>[REDACTED]</a:t>
            </a:r>
            <a:endParaRPr b="0" lang="pt-PT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No per-service logic required. One class handles all PII across the application</a:t>
            </a:r>
            <a:endParaRPr b="0" lang="pt-PT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731520" y="36576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f172a"/>
                </a:solidFill>
                <a:latin typeface="Georgia"/>
                <a:ea typeface="Georgia"/>
              </a:rPr>
              <a:t>Dashboard</a:t>
            </a:r>
            <a:endParaRPr b="0" lang="pt-PT" sz="3600" spc="-1" strike="noStrike"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731520" y="1005840"/>
            <a:ext cx="1096920" cy="36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3" name="Image 0" descr="/home/rmachado/uni/as/nopCommerce/load-test/dashboard.png"/>
          <p:cNvPicPr/>
          <p:nvPr/>
        </p:nvPicPr>
        <p:blipFill>
          <a:blip r:embed="rId1"/>
          <a:stretch/>
        </p:blipFill>
        <p:spPr>
          <a:xfrm>
            <a:off x="731520" y="1280160"/>
            <a:ext cx="7680600" cy="365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731520" y="36576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f172a"/>
                </a:solidFill>
                <a:latin typeface="Georgia"/>
                <a:ea typeface="Georgia"/>
              </a:rPr>
              <a:t>Architectural Critique</a:t>
            </a:r>
            <a:endParaRPr b="0" lang="pt-PT" sz="3600" spc="-1" strike="noStrike">
              <a:latin typeface="Arial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731520" y="1005840"/>
            <a:ext cx="1096920" cy="36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Shape 2"/>
          <p:cNvSpPr/>
          <p:nvPr/>
        </p:nvSpPr>
        <p:spPr>
          <a:xfrm>
            <a:off x="731520" y="1371600"/>
            <a:ext cx="3657240" cy="3108600"/>
          </a:xfrm>
          <a:prstGeom prst="rect">
            <a:avLst/>
          </a:prstGeom>
          <a:solidFill>
            <a:srgbClr val="f8fafc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Shape 3"/>
          <p:cNvSpPr/>
          <p:nvPr/>
        </p:nvSpPr>
        <p:spPr>
          <a:xfrm>
            <a:off x="731520" y="1371600"/>
            <a:ext cx="3657240" cy="453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4"/>
          <p:cNvSpPr/>
          <p:nvPr/>
        </p:nvSpPr>
        <p:spPr>
          <a:xfrm>
            <a:off x="914400" y="15544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6a34a"/>
                </a:solidFill>
                <a:latin typeface="Calibri"/>
                <a:ea typeface="Calibri"/>
              </a:rPr>
              <a:t>What Helped</a:t>
            </a:r>
            <a:endParaRPr b="0" lang="pt-PT" sz="1600" spc="-1" strike="noStrike"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914400" y="2011680"/>
            <a:ext cx="32914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Layered architecture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Shared diagnostics file, no circular deps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Well-decomposed methods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Natural span boundaries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INopStartup interface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Pure-additive registration at Order = -1</a:t>
            </a:r>
            <a:endParaRPr b="0" lang="pt-PT" sz="1300" spc="-1" strike="noStrike"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754880" y="1371600"/>
            <a:ext cx="3657240" cy="3108600"/>
          </a:xfrm>
          <a:prstGeom prst="rect">
            <a:avLst/>
          </a:prstGeom>
          <a:solidFill>
            <a:srgbClr val="f8fafc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7"/>
          <p:cNvSpPr/>
          <p:nvPr/>
        </p:nvSpPr>
        <p:spPr>
          <a:xfrm>
            <a:off x="4754880" y="1371600"/>
            <a:ext cx="3657240" cy="4536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8"/>
          <p:cNvSpPr/>
          <p:nvPr/>
        </p:nvSpPr>
        <p:spPr>
          <a:xfrm>
            <a:off x="4937760" y="15544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c2626"/>
                </a:solidFill>
                <a:latin typeface="Calibri"/>
                <a:ea typeface="Calibri"/>
              </a:rPr>
              <a:t>What Hindered</a:t>
            </a:r>
            <a:endParaRPr b="0" lang="pt-PT" sz="1600" spc="-1" strike="noStrike"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4937760" y="2011680"/>
            <a:ext cx="32914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Virtual methods on concrete classes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Decorator pattern impractical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Dual control-flow in PlaceOrderAsync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Duplicated metric recording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Calibri"/>
              </a:rPr>
              <a:t>Opaque payment plugins</a:t>
            </a:r>
            <a:endParaRPr b="0" lang="pt-PT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Plugin internals invisible to spans</a:t>
            </a:r>
            <a:endParaRPr b="0" lang="pt-PT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"/>
          <p:cNvSpPr/>
          <p:nvPr/>
        </p:nvSpPr>
        <p:spPr>
          <a:xfrm>
            <a:off x="731520" y="164592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f172a"/>
                </a:solidFill>
                <a:latin typeface="Georgia"/>
                <a:ea typeface="Georgia"/>
              </a:rPr>
              <a:t>Thank You</a:t>
            </a:r>
            <a:endParaRPr b="0" lang="pt-PT" sz="4400" spc="-1" strike="noStrike"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731520" y="256032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891b2"/>
                </a:solidFill>
                <a:latin typeface="Calibri"/>
                <a:ea typeface="Calibri"/>
              </a:rPr>
              <a:t>Questions?</a:t>
            </a:r>
            <a:endParaRPr b="0" lang="pt-PT" sz="2200" spc="-1" strike="noStrike"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731520" y="42062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https://github.com/ruimachado23/as-assignment01</a:t>
            </a:r>
            <a:endParaRPr b="0" lang="pt-PT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2026-03-23T16:43:07Z</dcterms:created>
  <dc:creator>Rui Machado</dc:creator>
  <dc:description/>
  <dc:language>pt-PT</dc:language>
  <cp:lastModifiedBy/>
  <dcterms:modified xsi:type="dcterms:W3CDTF">2026-03-23T16:50:08Z</dcterms:modified>
  <cp:revision>3</cp:revision>
  <dc:subject>PptxGenJS Presentation</dc:subject>
  <dc:title>nopCommerce — Assignment 01 — Observability in the Wild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